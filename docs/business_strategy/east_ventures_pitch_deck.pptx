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2743200" cy="73152"/>
          </a:xfrm>
          <a:prstGeom prst="rect">
            <a:avLst/>
          </a:prstGeom>
          <a:solidFill>
            <a:srgbClr val="64FFDA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HariKerja HRMS</a:t>
            </a:r>
          </a:p>
          <a:p>
            <a:pPr>
              <a:spcAft>
                <a:spcPts val="4000"/>
              </a:spcAft>
              <a:defRPr sz="2000">
                <a:solidFill>
                  <a:srgbClr val="8892B0"/>
                </a:solidFill>
                <a:latin typeface="Arial"/>
              </a:defRPr>
            </a:pPr>
            <a:r>
              <a:t>Democratizing HR Digitization for UMK, UMM, and Enterprise Tiers with Flat-Tier Pricing.</a:t>
            </a:r>
          </a:p>
          <a:p>
            <a:pPr>
              <a:defRPr sz="1400">
                <a:solidFill>
                  <a:srgbClr val="64FFDA"/>
                </a:solidFill>
                <a:latin typeface="Arial"/>
              </a:defRPr>
            </a:pPr>
            <a:r>
              <a:t>A modern, highly secure multi-tenant platform targeting a 1.5 Million Active User milestone by making enterprise-grade features affordable across all business scales.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HR Tax on Company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64FFDA"/>
                </a:solidFill>
                <a:latin typeface="Arial"/>
              </a:defRPr>
            </a:pPr>
            <a:r>
              <a:t>The Scaling Penalty</a:t>
            </a:r>
          </a:p>
          <a:p>
            <a:pPr>
              <a:spcAft>
                <a:spcPts val="15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Existing HRIS leaders in Indonesia (such as Mekari Talenta or Gadjian) utilize a Per-Employee pricing model.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t>As a business grows, its HR software costs grow linearly. This directly penalizes expansion and makes premium HR tools cost-prohibitive across UMK, UMM, and Enterprise segments.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Manual Alternative</a:t>
            </a:r>
          </a:p>
          <a:p>
            <a:pPr>
              <a:spcAft>
                <a:spcPts val="1200"/>
              </a:spcAft>
              <a:defRPr sz="1400">
                <a:solidFill>
                  <a:srgbClr val="8892B0"/>
                </a:solidFill>
                <a:latin typeface="Arial"/>
              </a:defRPr>
            </a:pPr>
            <a:r>
              <a:t>• Spreadsheet Dependency: Over 80% of UMK &amp; UMM businesses rely on manual spreadsheets to manage employee data, attendance, and leave records.</a:t>
            </a:r>
          </a:p>
          <a:p>
            <a:pPr>
              <a:defRPr sz="1400">
                <a:solidFill>
                  <a:srgbClr val="8892B0"/>
                </a:solidFill>
                <a:latin typeface="Arial"/>
              </a:defRPr>
            </a:pPr>
            <a:r>
              <a:t>• Compliance Risk: Manual handling of complex BPJS contributions and the latest 2024 PPh 21 TER tax regulations leads to severe compliance errors and financial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HariKerja: Flat-Rate Enterprise HRMS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4FFDA"/>
                </a:solidFill>
                <a:latin typeface="Arial"/>
              </a:defRPr>
            </a:pPr>
            <a:r>
              <a:t>Disruptive Flat Pricing</a:t>
            </a:r>
          </a:p>
          <a:p>
            <a:pPr>
              <a:spcAft>
                <a:spcPts val="2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Instead of per-employee pricing, we offer standard flat-rate plans starting at just Rp 125,000 /month. Businesses scale without scaling their software expenses.</a:t>
            </a:r>
          </a:p>
          <a:p>
            <a:pPr>
              <a:defRPr sz="1200" i="1">
                <a:solidFill>
                  <a:srgbClr val="8892B0"/>
                </a:solidFill>
                <a:latin typeface="Arial"/>
              </a:defRPr>
            </a:pPr>
            <a:r>
              <a:t>75% more cost-effective across all 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4FFDA"/>
                </a:solidFill>
                <a:latin typeface="Arial"/>
              </a:defRPr>
            </a:pPr>
            <a:r>
              <a:t>Localized Compliance</a:t>
            </a:r>
          </a:p>
          <a:p>
            <a:pPr>
              <a:spcAft>
                <a:spcPts val="2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Fully localized module for Indonesian regulations including BPJS Health &amp; Employment, plus automated calculations for the latest PPh 21 TER tax rules.</a:t>
            </a:r>
          </a:p>
          <a:p>
            <a:pPr>
              <a:defRPr sz="1200" i="1">
                <a:solidFill>
                  <a:srgbClr val="8892B0"/>
                </a:solidFill>
                <a:latin typeface="Arial"/>
              </a:defRPr>
            </a:pPr>
            <a:r>
              <a:t>Zero-Config Compliance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4FFDA"/>
                </a:solidFill>
                <a:latin typeface="Arial"/>
              </a:defRPr>
            </a:pPr>
            <a:r>
              <a:t>Modern ESS Mobile</a:t>
            </a:r>
          </a:p>
          <a:p>
            <a:pPr>
              <a:spcAft>
                <a:spcPts val="2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Native Flutter mobile app featuring offline attendance resilience, coordinate-based smart geofencing, face recognition logging, and secure digital payslips.</a:t>
            </a:r>
          </a:p>
          <a:p>
            <a:pPr>
              <a:defRPr sz="1200" i="1">
                <a:solidFill>
                  <a:srgbClr val="8892B0"/>
                </a:solidFill>
                <a:latin typeface="Arial"/>
              </a:defRPr>
            </a:pPr>
            <a:r>
              <a:t>Employee Self-Service (ESS)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Market Segmentation &amp; Quotas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Subscription Plan Strategy</a:t>
            </a:r>
          </a:p>
          <a:p>
            <a:pPr>
              <a:spcAft>
                <a:spcPts val="1200"/>
              </a:spcAft>
              <a:defRPr sz="1400">
                <a:solidFill>
                  <a:srgbClr val="8892B0"/>
                </a:solidFill>
                <a:latin typeface="Arial"/>
              </a:defRPr>
            </a:pPr>
            <a:r>
              <a:t>• UMK Segment (Essential): Flat Rp 125k/mo. Quota base of 25 seats up to max 100 seats capacity limit.</a:t>
            </a:r>
          </a:p>
          <a:p>
            <a:pPr>
              <a:spcAft>
                <a:spcPts val="1200"/>
              </a:spcAft>
              <a:defRPr sz="1400">
                <a:solidFill>
                  <a:srgbClr val="8892B0"/>
                </a:solidFill>
                <a:latin typeface="Arial"/>
              </a:defRPr>
            </a:pPr>
            <a:r>
              <a:t>• UMM Segment (Professional): Flat Rp 350k/mo. Quota base of 100 seats up to max 1,000 seats capacity limit.</a:t>
            </a:r>
          </a:p>
          <a:p>
            <a:pPr>
              <a:spcAft>
                <a:spcPts val="1200"/>
              </a:spcAft>
              <a:defRPr sz="1400">
                <a:solidFill>
                  <a:srgbClr val="64FFDA"/>
                </a:solidFill>
                <a:latin typeface="Arial"/>
              </a:defRPr>
            </a:pPr>
            <a:r>
              <a:t>• Enterprise Segment (Premium): Flat Rp 1.5M/mo. Quota base of 500 seats up to max 999,999 seats capacity limit.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Large Enterprise: Custom plans from Rp 5M/mo. Base 2,000+ seats, custom storage, dedicated instances.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6000" b="1">
                <a:solidFill>
                  <a:srgbClr val="64FFDA"/>
                </a:solidFill>
                <a:latin typeface="Arial"/>
              </a:defRPr>
            </a:pPr>
            <a:r>
              <a:t>1,500,000</a:t>
            </a:r>
          </a:p>
          <a:p>
            <a:pPr algn="ctr">
              <a:spcAft>
                <a:spcPts val="20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Active Users Target</a:t>
            </a:r>
          </a:p>
          <a:p>
            <a:pPr algn="ctr">
              <a:defRPr sz="1400">
                <a:solidFill>
                  <a:srgbClr val="8892B0"/>
                </a:solidFill>
                <a:latin typeface="Arial"/>
              </a:defRPr>
            </a:pPr>
            <a:r>
              <a:t>Achieved by capturing just ~3% of Indonesia's 50-60M formal workforce across all business sizes.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1.5M Active Users Scaling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Blueprint baseline (Rp 4.83B MRR)</a:t>
            </a:r>
          </a:p>
          <a:p>
            <a:pPr>
              <a:spcAft>
                <a:spcPts val="200"/>
              </a:spcAft>
              <a:defRPr sz="3200" b="1">
                <a:solidFill>
                  <a:srgbClr val="64FFDA"/>
                </a:solidFill>
                <a:latin typeface="Arial"/>
              </a:defRPr>
            </a:pPr>
            <a:r>
              <a:t>Rp 4.83 Billion</a:t>
            </a:r>
          </a:p>
          <a:p>
            <a:pPr>
              <a:spcAft>
                <a:spcPts val="1500"/>
              </a:spcAft>
              <a:defRPr sz="1200">
                <a:solidFill>
                  <a:srgbClr val="8892B0"/>
                </a:solidFill>
                <a:latin typeface="Arial"/>
              </a:defRPr>
            </a:pPr>
            <a:r>
              <a:t>Gross Revenue / Month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Requires: 20,250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UMK (Essential): 15,000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UMM (Professional): 4,500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Enterprise (Premium): 675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Dedicated (Large): 75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Gross Margin: 70% - 80%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Aligned with business blueprint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UMK-Dominant (Rp 7.65B MRR)</a:t>
            </a:r>
          </a:p>
          <a:p>
            <a:pPr>
              <a:spcAft>
                <a:spcPts val="200"/>
              </a:spcAft>
              <a:defRPr sz="3200" b="1">
                <a:solidFill>
                  <a:srgbClr val="64FFDA"/>
                </a:solidFill>
                <a:latin typeface="Arial"/>
              </a:defRPr>
            </a:pPr>
            <a:r>
              <a:t>Rp 7.65 Billion</a:t>
            </a:r>
          </a:p>
          <a:p>
            <a:pPr>
              <a:spcAft>
                <a:spcPts val="1500"/>
              </a:spcAft>
              <a:defRPr sz="1200">
                <a:solidFill>
                  <a:srgbClr val="8892B0"/>
                </a:solidFill>
                <a:latin typeface="Arial"/>
              </a:defRPr>
            </a:pPr>
            <a:r>
              <a:t>Gross Revenue / Month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Requires: 44,040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UMK (Essential): 37,500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UMM (Professional): 6,000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Enterprise (Premium): 525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Dedicated (Large): 15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High-volume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Enterprise-Dominant (Rp 4.95B MRR)</a:t>
            </a:r>
          </a:p>
          <a:p>
            <a:pPr>
              <a:spcAft>
                <a:spcPts val="200"/>
              </a:spcAft>
              <a:defRPr sz="3200" b="1">
                <a:solidFill>
                  <a:srgbClr val="64FFDA"/>
                </a:solidFill>
                <a:latin typeface="Arial"/>
              </a:defRPr>
            </a:pPr>
            <a:r>
              <a:t>Rp 4.95 Billion</a:t>
            </a:r>
          </a:p>
          <a:p>
            <a:pPr>
              <a:spcAft>
                <a:spcPts val="1500"/>
              </a:spcAft>
              <a:defRPr sz="1200">
                <a:solidFill>
                  <a:srgbClr val="8892B0"/>
                </a:solidFill>
                <a:latin typeface="Arial"/>
              </a:defRPr>
            </a:pPr>
            <a:r>
              <a:t>Gross Revenue / Month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Requires: 12,840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UMK (Essential): 7,500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UMM (Professional): 3,750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Enterprise (Premium): 1,500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Dedicated (Large): 90 tenants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High-value focus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Go-To-Market &amp; Growth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64FFDA"/>
                </a:solidFill>
                <a:latin typeface="Arial"/>
              </a:defRPr>
            </a:pPr>
            <a:r>
              <a:t>B2B Acquisition Engine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Search Engine Capture: Focus marketing spend (Rp 20M–500M) on high-intent search keywords (e.g. 'Aplikasi Payroll', 'HRIS Murah', 'TER PPh 21').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Retargeting Loops: Use Meta and LinkedIn retargeting to maintain top-of-mind recall with HR leaders who visited but didn't convert.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Educational Content: Drive organic signups by providing compliance calculators and tax guides.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Product-Led Retention</a:t>
            </a:r>
          </a:p>
          <a:p>
            <a:pPr>
              <a:spcAft>
                <a:spcPts val="1500"/>
              </a:spcAft>
              <a:defRPr sz="1400">
                <a:solidFill>
                  <a:srgbClr val="8892B0"/>
                </a:solidFill>
                <a:latin typeface="Arial"/>
              </a:defRPr>
            </a:pPr>
            <a:r>
              <a:t>• Self-Service Onboarding: Automated tenant provisioning and database seeding enable instant trial generation, lowering sales costs.</a:t>
            </a:r>
          </a:p>
          <a:p>
            <a:pPr>
              <a:defRPr sz="1400">
                <a:solidFill>
                  <a:srgbClr val="8892B0"/>
                </a:solidFill>
                <a:latin typeface="Arial"/>
              </a:defRPr>
            </a:pPr>
            <a:r>
              <a:t>• High Retention (Sticky Product): HRMS products are fundamentally sticky. Once a company embeds its core payroll, attendance, and team configuration in HariKerja, churn remains extremely 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Secure &amp; Scalable Multi-Tenant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Enterprise-Grade Infrastructure</a:t>
            </a:r>
          </a:p>
          <a:p>
            <a:pPr>
              <a:spcAft>
                <a:spcPts val="1200"/>
              </a:spcAft>
              <a:defRPr sz="1500">
                <a:solidFill>
                  <a:srgbClr val="8892B0"/>
                </a:solidFill>
                <a:latin typeface="Arial"/>
              </a:defRPr>
            </a:pPr>
            <a:r>
              <a:t>• Database Level Security: Hard PostgreSQL schema-per-tenant isolation guarantees zero possibility of cross-tenant data leaks.</a:t>
            </a:r>
          </a:p>
          <a:p>
            <a:pPr>
              <a:spcAft>
                <a:spcPts val="1200"/>
              </a:spcAft>
              <a:defRPr sz="1500">
                <a:solidFill>
                  <a:srgbClr val="8892B0"/>
                </a:solidFill>
                <a:latin typeface="Arial"/>
              </a:defRPr>
            </a:pPr>
            <a:r>
              <a:t>• Gateway Whitelisting: Django Admin backend is restricted at Nginx level and accessible only via Private OpenVPN/WireGuard gateways.</a:t>
            </a:r>
          </a:p>
          <a:p>
            <a:pPr>
              <a:defRPr sz="1500">
                <a:solidFill>
                  <a:srgbClr val="64FFDA"/>
                </a:solidFill>
                <a:latin typeface="Arial"/>
              </a:defRPr>
            </a:pPr>
            <a:r>
              <a:t>• Multi-Factor Authentication: Secure login flow enforces 6-digit TOTP (Google Authenticator) verification for all administrative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4389120"/>
          </a:xfrm>
          <a:prstGeom prst="round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92024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• Backend Framework: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  Django (Python) &amp; Django REST Framework</a:t>
            </a:r>
          </a:p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• Database &amp; Cache: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  PostgreSQL (Multi-tenant) &amp; Redis Cache</a:t>
            </a:r>
          </a:p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• Frontend &amp; Portal: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  Next.js (React) &amp; Vanilla CSS</a:t>
            </a:r>
          </a:p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• Mobile Client: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  Flutter (iOS &amp; Android) with Offline Cache</a:t>
            </a:r>
          </a:p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• Security Gateways: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  Nginx, UFW, OpenVPN, WireGuard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64FFDA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Partner with HariKerja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0"/>
              </a:spcAft>
              <a:defRPr sz="3600" b="1">
                <a:solidFill>
                  <a:srgbClr val="64FFDA"/>
                </a:solidFill>
                <a:latin typeface="Arial"/>
              </a:defRPr>
            </a:pPr>
            <a:r>
              <a:t>Let's Scale HariKerja Together</a:t>
            </a:r>
          </a:p>
          <a:p>
            <a:pPr algn="ctr">
              <a:spcAft>
                <a:spcPts val="40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Seeking Seed Round of Rp 3,600,000,000 for 12.5% Equity (Post-Money Valuation: Rp 28,800,000,000 / $1.8M USD) to secure a 24-month runway, procure core work tools (MacBook Pro/Air &amp; testing devices), expand professional engineering &amp; sales teams, and reach profitability.</a:t>
            </a:r>
          </a:p>
          <a:p>
            <a:pPr algn="ctr">
              <a:defRPr sz="1600" b="1">
                <a:solidFill>
                  <a:srgbClr val="8892B0"/>
                </a:solidFill>
                <a:latin typeface="Arial"/>
              </a:defRPr>
            </a:pPr>
            <a:r>
              <a:t>Contact: info@harikerja.web.id  |  Website: https://harikerja.web.id (QA) / HariKerja.com (Prod)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