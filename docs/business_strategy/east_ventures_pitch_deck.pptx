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011680"/>
            <a:ext cx="2743200" cy="73152"/>
          </a:xfrm>
          <a:prstGeom prst="rect">
            <a:avLst/>
          </a:prstGeom>
          <a:solidFill>
            <a:srgbClr val="64FFDA"/>
          </a:solidFill>
          <a:ln>
            <a:solidFill>
              <a:srgbClr val="64FF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0"/>
              </a:spcAft>
              <a:defRPr sz="5400" b="1">
                <a:solidFill>
                  <a:srgbClr val="FFFFFF"/>
                </a:solidFill>
                <a:latin typeface="Arial"/>
              </a:defRPr>
            </a:pPr>
            <a:r>
              <a:t>HariKerja HRMS</a:t>
            </a:r>
          </a:p>
          <a:p>
            <a:pPr>
              <a:spcAft>
                <a:spcPts val="4000"/>
              </a:spcAft>
              <a:defRPr sz="2000">
                <a:solidFill>
                  <a:srgbClr val="8892B0"/>
                </a:solidFill>
                <a:latin typeface="Arial"/>
              </a:defRPr>
            </a:pPr>
            <a:r>
              <a:t>Democratizing HR Digitization for UMK, UMM, and Enterprise Tiers with Flat-Tier Pricing.</a:t>
            </a:r>
          </a:p>
          <a:p>
            <a:pPr>
              <a:defRPr sz="1400">
                <a:solidFill>
                  <a:srgbClr val="64FFDA"/>
                </a:solidFill>
                <a:latin typeface="Arial"/>
              </a:defRPr>
            </a:pPr>
            <a:r>
              <a:t>A modern, highly secure multi-tenant platform targeting a 1 Million Active User milestone by making enterprise-grade features affordable across all business scales.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4FFDA"/>
                </a:solidFill>
                <a:latin typeface="Arial"/>
              </a:defRPr>
            </a:pPr>
            <a:r>
              <a:t>PITCH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The HR Tax on Company Growth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64FFDA"/>
                </a:solidFill>
                <a:latin typeface="Arial"/>
              </a:defRPr>
            </a:pPr>
            <a:r>
              <a:t>The Scaling Penalty</a:t>
            </a:r>
          </a:p>
          <a:p>
            <a:pPr>
              <a:spcAft>
                <a:spcPts val="1500"/>
              </a:spcAft>
              <a:defRPr sz="1500">
                <a:solidFill>
                  <a:srgbClr val="FFFFFF"/>
                </a:solidFill>
                <a:latin typeface="Arial"/>
              </a:defRPr>
            </a:pPr>
            <a:r>
              <a:t>Existing HRIS leaders in Indonesia (such as Mekari Talenta or Gadjian) utilize a Per-Employee pricing model.</a:t>
            </a:r>
          </a:p>
          <a:p>
            <a:pPr>
              <a:defRPr sz="1500">
                <a:solidFill>
                  <a:srgbClr val="FFFFFF"/>
                </a:solidFill>
                <a:latin typeface="Arial"/>
              </a:defRPr>
            </a:pPr>
            <a:r>
              <a:t>As a business grows, its HR software costs grow linearly. This directly penalizes expansion and makes premium HR tools cost-prohibitive across UMK, UMM, and Enterprise segments.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920240"/>
            <a:ext cx="46634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The Manual Alternative</a:t>
            </a:r>
          </a:p>
          <a:p>
            <a:pPr>
              <a:spcAft>
                <a:spcPts val="1200"/>
              </a:spcAft>
              <a:defRPr sz="1400">
                <a:solidFill>
                  <a:srgbClr val="8892B0"/>
                </a:solidFill>
                <a:latin typeface="Arial"/>
              </a:defRPr>
            </a:pPr>
            <a:r>
              <a:t>• Spreadsheet Dependency: Over 80% of UMK &amp; UMM businesses rely on manual spreadsheets to manage employee data, attendance, and leave records.</a:t>
            </a:r>
          </a:p>
          <a:p>
            <a:pPr>
              <a:defRPr sz="1400">
                <a:solidFill>
                  <a:srgbClr val="8892B0"/>
                </a:solidFill>
                <a:latin typeface="Arial"/>
              </a:defRPr>
            </a:pPr>
            <a:r>
              <a:t>• Compliance Risk: Manual handling of complex BPJS contributions and the latest 2024 PPh 21 TER tax regulations leads to severe compliance errors and financial audits.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4FFDA"/>
                </a:solidFill>
                <a:latin typeface="Arial"/>
              </a:defRPr>
            </a:pPr>
            <a:r>
              <a:t>PITCH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HariKerja: Flat-Rate Enterprise HRMS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2871216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4FFDA"/>
                </a:solidFill>
                <a:latin typeface="Arial"/>
              </a:defRPr>
            </a:pPr>
            <a:r>
              <a:t>Disruptive Flat Pricing</a:t>
            </a:r>
          </a:p>
          <a:p>
            <a:pPr>
              <a:spcAft>
                <a:spcPts val="20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Instead of per-employee pricing, we offer standard flat-rate plans starting at just Rp 125,000 /month. Businesses scale without scaling their software expenses.</a:t>
            </a:r>
          </a:p>
          <a:p>
            <a:pPr>
              <a:defRPr sz="1200" i="1">
                <a:solidFill>
                  <a:srgbClr val="8892B0"/>
                </a:solidFill>
                <a:latin typeface="Arial"/>
              </a:defRPr>
            </a:pPr>
            <a:r>
              <a:t>75% more cost-effective across all tiers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645920"/>
            <a:ext cx="3328416" cy="4389120"/>
          </a:xfrm>
          <a:prstGeom prst="round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54296" y="1920240"/>
            <a:ext cx="2871216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4FFDA"/>
                </a:solidFill>
                <a:latin typeface="Arial"/>
              </a:defRPr>
            </a:pPr>
            <a:r>
              <a:t>Localized Compliance</a:t>
            </a:r>
          </a:p>
          <a:p>
            <a:pPr>
              <a:spcAft>
                <a:spcPts val="20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Fully localized module for Indonesian regulations including BPJS Health &amp; Employment, plus automated calculations for the latest PPh 21 TER tax rules.</a:t>
            </a:r>
          </a:p>
          <a:p>
            <a:pPr>
              <a:defRPr sz="1200" i="1">
                <a:solidFill>
                  <a:srgbClr val="8892B0"/>
                </a:solidFill>
                <a:latin typeface="Arial"/>
              </a:defRPr>
            </a:pPr>
            <a:r>
              <a:t>Zero-Config Compliance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645920"/>
            <a:ext cx="3328416" cy="4389120"/>
          </a:xfrm>
          <a:prstGeom prst="round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8472" y="1920240"/>
            <a:ext cx="2871216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64FFDA"/>
                </a:solidFill>
                <a:latin typeface="Arial"/>
              </a:defRPr>
            </a:pPr>
            <a:r>
              <a:t>Modern ESS Mobile</a:t>
            </a:r>
          </a:p>
          <a:p>
            <a:pPr>
              <a:spcAft>
                <a:spcPts val="20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Native Flutter mobile app featuring offline attendance resilience, coordinate-based smart geofencing, face recognition logging, and secure digital payslips.</a:t>
            </a:r>
          </a:p>
          <a:p>
            <a:pPr>
              <a:defRPr sz="1200" i="1">
                <a:solidFill>
                  <a:srgbClr val="8892B0"/>
                </a:solidFill>
                <a:latin typeface="Arial"/>
              </a:defRPr>
            </a:pPr>
            <a:r>
              <a:t>Employee Self-Service (ESS)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4FFDA"/>
                </a:solidFill>
                <a:latin typeface="Arial"/>
              </a:defRPr>
            </a:pPr>
            <a:r>
              <a:t>PITCH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Market Segmentation &amp; Quotas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Subscription Plan Strategy</a:t>
            </a:r>
          </a:p>
          <a:p>
            <a:pPr>
              <a:spcAft>
                <a:spcPts val="1200"/>
              </a:spcAft>
              <a:defRPr sz="1400">
                <a:solidFill>
                  <a:srgbClr val="8892B0"/>
                </a:solidFill>
                <a:latin typeface="Arial"/>
              </a:defRPr>
            </a:pPr>
            <a:r>
              <a:t>• UMK Segment (Essential): Flat Rp 125k/mo. Quota base of 25 seats up to max 100 seats capacity limit.</a:t>
            </a:r>
          </a:p>
          <a:p>
            <a:pPr>
              <a:spcAft>
                <a:spcPts val="1200"/>
              </a:spcAft>
              <a:defRPr sz="1400">
                <a:solidFill>
                  <a:srgbClr val="8892B0"/>
                </a:solidFill>
                <a:latin typeface="Arial"/>
              </a:defRPr>
            </a:pPr>
            <a:r>
              <a:t>• UMM Segment (Professional): Flat Rp 350k/mo. Quota base of 100 seats up to max 1,000 seats capacity limit.</a:t>
            </a:r>
          </a:p>
          <a:p>
            <a:pPr>
              <a:spcAft>
                <a:spcPts val="1200"/>
              </a:spcAft>
              <a:defRPr sz="1400">
                <a:solidFill>
                  <a:srgbClr val="64FFDA"/>
                </a:solidFill>
                <a:latin typeface="Arial"/>
              </a:defRPr>
            </a:pPr>
            <a:r>
              <a:t>• Enterprise Segment (Premium): Flat Rp 1.5M/mo. Quota base of 500 seats up to max 999,999 seats capacity limit.</a:t>
            </a:r>
          </a:p>
          <a:p>
            <a:pPr>
              <a:defRPr sz="1400">
                <a:solidFill>
                  <a:srgbClr val="FFFFFF"/>
                </a:solidFill>
                <a:latin typeface="Arial"/>
              </a:defRPr>
            </a:pPr>
            <a:r>
              <a:t>• Large Enterprise: Custom plans from Rp 5M/mo. Base 2,000+ seats, custom storage, dedicated instances.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645920"/>
            <a:ext cx="4572000" cy="4389120"/>
          </a:xfrm>
          <a:prstGeom prst="round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023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6000" b="1">
                <a:solidFill>
                  <a:srgbClr val="64FFDA"/>
                </a:solidFill>
                <a:latin typeface="Arial"/>
              </a:defRPr>
            </a:pPr>
            <a:r>
              <a:t>1,000,000</a:t>
            </a:r>
          </a:p>
          <a:p>
            <a:pPr algn="ctr">
              <a:spcAft>
                <a:spcPts val="20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Active Users Target</a:t>
            </a:r>
          </a:p>
          <a:p>
            <a:pPr algn="ctr">
              <a:defRPr sz="1400">
                <a:solidFill>
                  <a:srgbClr val="8892B0"/>
                </a:solidFill>
                <a:latin typeface="Arial"/>
              </a:defRPr>
            </a:pPr>
            <a:r>
              <a:t>Achieved by capturing just ~2% of Indonesia's 50-60M formal workforce across all business sizes.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4FFDA"/>
                </a:solidFill>
                <a:latin typeface="Arial"/>
              </a:defRPr>
            </a:pPr>
            <a:r>
              <a:t>PITCH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1M Active Users Scaling Scenarios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6265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Blueprint baseline (Rp 3.22B MRR)</a:t>
            </a:r>
          </a:p>
          <a:p>
            <a:pPr>
              <a:spcAft>
                <a:spcPts val="200"/>
              </a:spcAft>
              <a:defRPr sz="3200" b="1">
                <a:solidFill>
                  <a:srgbClr val="64FFDA"/>
                </a:solidFill>
                <a:latin typeface="Arial"/>
              </a:defRPr>
            </a:pPr>
            <a:r>
              <a:t>Rp 3.22 Billion</a:t>
            </a:r>
          </a:p>
          <a:p>
            <a:pPr>
              <a:spcAft>
                <a:spcPts val="1500"/>
              </a:spcAft>
              <a:defRPr sz="1200">
                <a:solidFill>
                  <a:srgbClr val="8892B0"/>
                </a:solidFill>
                <a:latin typeface="Arial"/>
              </a:defRPr>
            </a:pPr>
            <a:r>
              <a:t>Gross Revenue / Month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Requires: 13,500 Tenants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UMK (Essential): 10,000 tenants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UMM (Professional): 3,000 tenants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Enterprise (Premium): 450 tenants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Dedicated (Large): 50 tenants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Gross Margin: 70% - 80%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Aligned with business blueprint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645920"/>
            <a:ext cx="3328416" cy="4389120"/>
          </a:xfrm>
          <a:prstGeom prst="round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828800"/>
            <a:ext cx="296265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UMK-Dominant (Rp 5.1B MRR)</a:t>
            </a:r>
          </a:p>
          <a:p>
            <a:pPr>
              <a:spcAft>
                <a:spcPts val="200"/>
              </a:spcAft>
              <a:defRPr sz="3200" b="1">
                <a:solidFill>
                  <a:srgbClr val="64FFDA"/>
                </a:solidFill>
                <a:latin typeface="Arial"/>
              </a:defRPr>
            </a:pPr>
            <a:r>
              <a:t>Rp 5.1 Billion</a:t>
            </a:r>
          </a:p>
          <a:p>
            <a:pPr>
              <a:spcAft>
                <a:spcPts val="1500"/>
              </a:spcAft>
              <a:defRPr sz="1200">
                <a:solidFill>
                  <a:srgbClr val="8892B0"/>
                </a:solidFill>
                <a:latin typeface="Arial"/>
              </a:defRPr>
            </a:pPr>
            <a:r>
              <a:t>Gross Revenue / Month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Requires: 29,360 Tenants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UMK (Essential): 25,000 tenants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UMM (Professional): 4,000 tenants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Enterprise (Premium): 350 tenants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Dedicated (Large): 10 tenants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High-volume focus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645920"/>
            <a:ext cx="3328416" cy="4389120"/>
          </a:xfrm>
          <a:prstGeom prst="round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28800"/>
            <a:ext cx="2962656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Enterprise-Dominant (Rp 3.3B MRR)</a:t>
            </a:r>
          </a:p>
          <a:p>
            <a:pPr>
              <a:spcAft>
                <a:spcPts val="200"/>
              </a:spcAft>
              <a:defRPr sz="3200" b="1">
                <a:solidFill>
                  <a:srgbClr val="64FFDA"/>
                </a:solidFill>
                <a:latin typeface="Arial"/>
              </a:defRPr>
            </a:pPr>
            <a:r>
              <a:t>Rp 3.3 Billion</a:t>
            </a:r>
          </a:p>
          <a:p>
            <a:pPr>
              <a:spcAft>
                <a:spcPts val="1500"/>
              </a:spcAft>
              <a:defRPr sz="1200">
                <a:solidFill>
                  <a:srgbClr val="8892B0"/>
                </a:solidFill>
                <a:latin typeface="Arial"/>
              </a:defRPr>
            </a:pPr>
            <a:r>
              <a:t>Gross Revenue / Month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Requires: 8,560 Tenants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UMK (Essential): 5,000 tenants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UMM (Professional): 2,500 tenants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Enterprise (Premium): 1,000 tenants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Dedicated (Large): 60 tenants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  <a:latin typeface="Arial"/>
              </a:defRPr>
            </a:pPr>
            <a:r>
              <a:t>• High-value focus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4FFDA"/>
                </a:solidFill>
                <a:latin typeface="Arial"/>
              </a:defRPr>
            </a:pPr>
            <a:r>
              <a:t>PITCH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Go-To-Market &amp; Growth Strategy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64FFDA"/>
                </a:solidFill>
                <a:latin typeface="Arial"/>
              </a:defRPr>
            </a:pPr>
            <a:r>
              <a:t>B2B Acquisition Engine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• Search Engine Capture: Focus marketing spend (Rp 20M–500M) on high-intent search keywords (e.g. 'Aplikasi Payroll', 'HRIS Murah', 'TER PPh 21').</a:t>
            </a:r>
          </a:p>
          <a:p>
            <a:pPr>
              <a:spcAft>
                <a:spcPts val="15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• Retargeting Loops: Use Meta and LinkedIn retargeting to maintain top-of-mind recall with HR leaders who visited but didn't convert.</a:t>
            </a:r>
          </a:p>
          <a:p>
            <a:pPr>
              <a:defRPr sz="1400">
                <a:solidFill>
                  <a:srgbClr val="FFFFFF"/>
                </a:solidFill>
                <a:latin typeface="Arial"/>
              </a:defRPr>
            </a:pPr>
            <a:r>
              <a:t>• Educational Content: Drive organic signups by providing compliance calculators and tax guides.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920240"/>
            <a:ext cx="46634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Product-Led Retention</a:t>
            </a:r>
          </a:p>
          <a:p>
            <a:pPr>
              <a:spcAft>
                <a:spcPts val="1500"/>
              </a:spcAft>
              <a:defRPr sz="1400">
                <a:solidFill>
                  <a:srgbClr val="8892B0"/>
                </a:solidFill>
                <a:latin typeface="Arial"/>
              </a:defRPr>
            </a:pPr>
            <a:r>
              <a:t>• Self-Service Onboarding: Automated tenant provisioning and database seeding enable instant trial generation, lowering sales costs.</a:t>
            </a:r>
          </a:p>
          <a:p>
            <a:pPr>
              <a:defRPr sz="1400">
                <a:solidFill>
                  <a:srgbClr val="8892B0"/>
                </a:solidFill>
                <a:latin typeface="Arial"/>
              </a:defRPr>
            </a:pPr>
            <a:r>
              <a:t>• High Retention (Sticky Product): HRMS products are fundamentally sticky. Once a company embeds its core payroll, attendance, and team configuration in HariKerja, churn remains extremely low.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4FFDA"/>
                </a:solidFill>
                <a:latin typeface="Arial"/>
              </a:defRPr>
            </a:pPr>
            <a:r>
              <a:t>PITCH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Secure &amp; Scalable Multi-Tenant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Enterprise-Grade Infrastructure</a:t>
            </a:r>
          </a:p>
          <a:p>
            <a:pPr>
              <a:spcAft>
                <a:spcPts val="1200"/>
              </a:spcAft>
              <a:defRPr sz="1500">
                <a:solidFill>
                  <a:srgbClr val="8892B0"/>
                </a:solidFill>
                <a:latin typeface="Arial"/>
              </a:defRPr>
            </a:pPr>
            <a:r>
              <a:t>• Database Level Security: Hard PostgreSQL schema-per-tenant isolation guarantees zero possibility of cross-tenant data leaks.</a:t>
            </a:r>
          </a:p>
          <a:p>
            <a:pPr>
              <a:spcAft>
                <a:spcPts val="1200"/>
              </a:spcAft>
              <a:defRPr sz="1500">
                <a:solidFill>
                  <a:srgbClr val="8892B0"/>
                </a:solidFill>
                <a:latin typeface="Arial"/>
              </a:defRPr>
            </a:pPr>
            <a:r>
              <a:t>• Gateway Whitelisting: Django Admin backend is restricted at Nginx level and accessible only via Private OpenVPN/WireGuard gateways.</a:t>
            </a:r>
          </a:p>
          <a:p>
            <a:pPr>
              <a:defRPr sz="1500">
                <a:solidFill>
                  <a:srgbClr val="64FFDA"/>
                </a:solidFill>
                <a:latin typeface="Arial"/>
              </a:defRPr>
            </a:pPr>
            <a:r>
              <a:t>• Multi-Factor Authentication: Secure login flow enforces 6-digit TOTP (Google Authenticator) verification for all administrative actions.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645920"/>
            <a:ext cx="4572000" cy="4389120"/>
          </a:xfrm>
          <a:prstGeom prst="roundRect">
            <a:avLst/>
          </a:prstGeom>
          <a:solidFill>
            <a:srgbClr val="17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0" y="1920240"/>
            <a:ext cx="4023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Technology Stack</a:t>
            </a:r>
          </a:p>
          <a:p>
            <a:pPr>
              <a:defRPr sz="1300" b="1">
                <a:solidFill>
                  <a:srgbClr val="64FFDA"/>
                </a:solidFill>
                <a:latin typeface="Arial"/>
              </a:defRPr>
            </a:pPr>
            <a:r>
              <a:t>• Backend Framework: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t>  Django (Python) &amp; Django REST Framework</a:t>
            </a:r>
          </a:p>
          <a:p>
            <a:pPr>
              <a:defRPr sz="1300" b="1">
                <a:solidFill>
                  <a:srgbClr val="64FFDA"/>
                </a:solidFill>
                <a:latin typeface="Arial"/>
              </a:defRPr>
            </a:pPr>
            <a:r>
              <a:t>• Database &amp; Cache: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t>  PostgreSQL (Multi-tenant) &amp; Redis Cache</a:t>
            </a:r>
          </a:p>
          <a:p>
            <a:pPr>
              <a:defRPr sz="1300" b="1">
                <a:solidFill>
                  <a:srgbClr val="64FFDA"/>
                </a:solidFill>
                <a:latin typeface="Arial"/>
              </a:defRPr>
            </a:pPr>
            <a:r>
              <a:t>• Frontend &amp; Portal: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t>  Next.js (React) &amp; Vanilla CSS</a:t>
            </a:r>
          </a:p>
          <a:p>
            <a:pPr>
              <a:defRPr sz="1300" b="1">
                <a:solidFill>
                  <a:srgbClr val="64FFDA"/>
                </a:solidFill>
                <a:latin typeface="Arial"/>
              </a:defRPr>
            </a:pPr>
            <a:r>
              <a:t>• Mobile Client: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t>  Flutter (iOS &amp; Android) with Offline Cache</a:t>
            </a:r>
          </a:p>
          <a:p>
            <a:pPr>
              <a:defRPr sz="1300" b="1">
                <a:solidFill>
                  <a:srgbClr val="64FFDA"/>
                </a:solidFill>
                <a:latin typeface="Arial"/>
              </a:defRPr>
            </a:pPr>
            <a:r>
              <a:t>• Security Gateways: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t>  Nginx, UFW, OpenVPN, WireGuard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64FFDA"/>
                </a:solidFill>
                <a:latin typeface="Arial"/>
              </a:defRPr>
            </a:pPr>
            <a:r>
              <a:t>CALL TO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Partner with HariKerja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0"/>
              </a:spcAft>
              <a:defRPr sz="3600" b="1">
                <a:solidFill>
                  <a:srgbClr val="64FFDA"/>
                </a:solidFill>
                <a:latin typeface="Arial"/>
              </a:defRPr>
            </a:pPr>
            <a:r>
              <a:t>Let's Scale HariKerja Together</a:t>
            </a:r>
          </a:p>
          <a:p>
            <a:pPr algn="ctr">
              <a:spcAft>
                <a:spcPts val="4000"/>
              </a:spcAft>
              <a:defRPr sz="1800">
                <a:solidFill>
                  <a:srgbClr val="FFFFFF"/>
                </a:solidFill>
                <a:latin typeface="Arial"/>
              </a:defRPr>
            </a:pPr>
            <a:r>
              <a:t>Seeking Seed Round of Rp 3,600,000,000 for 12.5% Equity (Post-Money Valuation: Rp 28,800,000,000 / $1.8M USD) to secure a 24-month runway, procure core work tools (MacBook Pro/Air &amp; testing devices), expand professional engineering &amp; sales teams, and reach profitability.</a:t>
            </a:r>
          </a:p>
          <a:p>
            <a:pPr algn="ctr">
              <a:defRPr sz="1600" b="1">
                <a:solidFill>
                  <a:srgbClr val="8892B0"/>
                </a:solidFill>
                <a:latin typeface="Arial"/>
              </a:defRPr>
            </a:pPr>
            <a:r>
              <a:t>Contact: info@harikerja.web.id  |  Website: https://harikerja.web.id (QA) / HariKerja.com (Prod)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